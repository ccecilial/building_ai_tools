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embeddedFontLst>
    <p:embeddedFont>
      <p:font typeface="Roboto Mono"/>
      <p:regular r:id="rId10"/>
      <p:bold r:id="rId11"/>
      <p:italic r:id="rId12"/>
      <p:boldItalic r:id="rId13"/>
    </p:embeddedFon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c10a9030d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c10a9030d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cc10a9030d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.gif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000125" y="509188"/>
            <a:ext cx="7143750" cy="4125125"/>
          </a:xfrm>
          <a:prstGeom prst="rect">
            <a:avLst/>
          </a:prstGeom>
          <a:solidFill>
            <a:srgbClr val="1E293B">
              <a:alpha val="8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893791" y="1382511"/>
            <a:ext cx="5356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67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60"/>
              <a:buFont typeface="Roboto Mono"/>
              <a:buNone/>
            </a:pPr>
            <a:r>
              <a:rPr b="1" lang="en-US" sz="286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Bank Climate Risk RAG System</a:t>
            </a:r>
            <a:endParaRPr b="0" i="0" sz="2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69001" y="1862565"/>
            <a:ext cx="1863096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67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60"/>
              <a:buFont typeface="Roboto Mono"/>
              <a:buNone/>
            </a:pPr>
            <a:r>
              <a:t/>
            </a:r>
            <a:endParaRPr b="0" i="0" sz="2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714500" y="2548003"/>
            <a:ext cx="5715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48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70"/>
              <a:buFont typeface="DM Sans"/>
              <a:buNone/>
            </a:pPr>
            <a:r>
              <a:rPr b="0" i="0" lang="en-US" sz="127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Cross-Firm Analysis of Climate-Related Risk Disclosures in G-SIB Sustainability Reports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71625" y="3783871"/>
            <a:ext cx="402382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620"/>
              <a:buFont typeface="Roboto Mono"/>
              <a:buNone/>
            </a:pPr>
            <a:r>
              <a:rPr b="0" i="0" lang="en-US" sz="620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TEAM MEMBERS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71625" y="4016043"/>
            <a:ext cx="55743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39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39"/>
              <a:buFont typeface="DM Sans"/>
              <a:buNone/>
            </a:pPr>
            <a:r>
              <a:rPr b="0" i="0" lang="en-US" sz="94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Cecilia Li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329086" y="4016043"/>
            <a:ext cx="8221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39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39"/>
              <a:buFont typeface="DM Sans"/>
              <a:buNone/>
            </a:pPr>
            <a:r>
              <a:rPr b="0" i="0" lang="en-US" sz="94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Fangyuan Lu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351256" y="4016043"/>
            <a:ext cx="14008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39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39"/>
              <a:buFont typeface="DM Sans"/>
              <a:buNone/>
            </a:pPr>
            <a:r>
              <a:rPr b="0" i="0" lang="en-US" sz="94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Isis Hernandez Moreno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952126" y="4016043"/>
            <a:ext cx="6433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39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39"/>
              <a:buFont typeface="DM Sans"/>
              <a:buNone/>
            </a:pPr>
            <a:r>
              <a:rPr b="0" i="0" lang="en-US" sz="94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Jiahui Han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571500" y="428625"/>
            <a:ext cx="8001000" cy="90580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71500" y="1327286"/>
            <a:ext cx="8001000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71500" y="428625"/>
            <a:ext cx="80010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725"/>
              <a:buFont typeface="Roboto Mono"/>
              <a:buNone/>
            </a:pPr>
            <a:r>
              <a:rPr b="0" i="0" lang="en-US" sz="72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USE CASE: VALUE ADDED</a:t>
            </a:r>
            <a:endParaRPr b="0" i="0" sz="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1500" y="635800"/>
            <a:ext cx="800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Roboto Mono"/>
              <a:buNone/>
            </a:pPr>
            <a:r>
              <a:rPr b="1" lang="en-US" sz="20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Query-Driven Disclosure Analytics for Cross-Firm Climate Risk Insights</a:t>
            </a:r>
            <a:endParaRPr b="1" sz="2000">
              <a:solidFill>
                <a:srgbClr val="F8FAF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71500" y="1613036"/>
            <a:ext cx="2552691" cy="158948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42950" y="1784486"/>
            <a:ext cx="342900" cy="342900"/>
          </a:xfrm>
          <a:prstGeom prst="rect">
            <a:avLst/>
          </a:prstGeom>
          <a:solidFill>
            <a:srgbClr val="2DD4BF">
              <a:alpha val="10196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75" y="187021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742950" y="2241686"/>
            <a:ext cx="22002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Roboto Mono"/>
              <a:buNone/>
            </a:pPr>
            <a:r>
              <a:rPr b="1" i="0" lang="en-US" sz="1085" u="none" cap="none" strike="noStrike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Dynamic Querying</a:t>
            </a:r>
            <a:endParaRPr b="0" i="0" sz="10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42950" y="2502433"/>
            <a:ext cx="22002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66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8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Analysts can ask any regulatory question. The system adapts to shifting priorities without requiring new static reports.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286125" y="1613036"/>
            <a:ext cx="2557463" cy="158948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462347" y="1784486"/>
            <a:ext cx="342900" cy="342900"/>
          </a:xfrm>
          <a:prstGeom prst="rect">
            <a:avLst/>
          </a:prstGeom>
          <a:solidFill>
            <a:srgbClr val="2DD4BF">
              <a:alpha val="10196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8072" y="187021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3462350" y="2241675"/>
            <a:ext cx="23034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Roboto Mono"/>
              <a:buNone/>
            </a:pPr>
            <a:r>
              <a:rPr b="1" i="0" lang="en-US" sz="1085" u="none" cap="none" strike="noStrike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Standardized Classification</a:t>
            </a:r>
            <a:endParaRPr b="0" i="0" sz="10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462347" y="2502433"/>
            <a:ext cx="22050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66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8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Automatically classifies disclosures into standardized risk categories (Transition vs. Physical) regardless of phrasing.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010294" y="1613036"/>
            <a:ext cx="2562234" cy="158948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191231" y="1784486"/>
            <a:ext cx="342900" cy="342900"/>
          </a:xfrm>
          <a:prstGeom prst="rect">
            <a:avLst/>
          </a:prstGeom>
          <a:solidFill>
            <a:srgbClr val="2DD4BF">
              <a:alpha val="10196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956" y="187021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6191231" y="2241686"/>
            <a:ext cx="220979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Roboto Mono"/>
              <a:buNone/>
            </a:pPr>
            <a:r>
              <a:rPr b="1" i="0" lang="en-US" sz="1085" u="none" cap="none" strike="noStrike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SDG-Linked Analysis</a:t>
            </a:r>
            <a:endParaRPr b="0" i="0" sz="10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91231" y="2502433"/>
            <a:ext cx="220979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66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8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Associates risk narratives directly with firms' self-declared SDG alignment, enabling accountability checks.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71500" y="3359683"/>
            <a:ext cx="3914775" cy="141803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42950" y="3531133"/>
            <a:ext cx="342900" cy="342900"/>
          </a:xfrm>
          <a:prstGeom prst="rect">
            <a:avLst/>
          </a:prstGeom>
          <a:solidFill>
            <a:srgbClr val="2DD4BF">
              <a:alpha val="10196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106" y="3616858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742950" y="3988333"/>
            <a:ext cx="356473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Roboto Mono"/>
              <a:buNone/>
            </a:pPr>
            <a:r>
              <a:rPr b="1" i="0" lang="en-US" sz="1085" u="none" cap="none" strike="noStrike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Transparency &amp; Traceability</a:t>
            </a:r>
            <a:endParaRPr b="0" i="0" sz="10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42950" y="4249080"/>
            <a:ext cx="35647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66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8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Every output includes direct citations from source documents, ensuring results are auditable and evidence-based.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650581" y="3359683"/>
            <a:ext cx="3921919" cy="141803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829175" y="3531133"/>
            <a:ext cx="342900" cy="342900"/>
          </a:xfrm>
          <a:prstGeom prst="rect">
            <a:avLst/>
          </a:prstGeom>
          <a:solidFill>
            <a:srgbClr val="2DD4BF">
              <a:alpha val="10196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3469" y="361685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4829175" y="3988333"/>
            <a:ext cx="35718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Roboto Mono"/>
              <a:buNone/>
            </a:pPr>
            <a:r>
              <a:rPr b="1" i="0" lang="en-US" sz="1085" u="none" cap="none" strike="noStrike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Cross-Firm Comparability</a:t>
            </a:r>
            <a:endParaRPr b="0" i="0" sz="10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29175" y="4249080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66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8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Generates structured table outputs that allow side-by-side comparison across multiple G-SIB institutions.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71500" y="428625"/>
            <a:ext cx="8001000" cy="90580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71500" y="1327286"/>
            <a:ext cx="8001000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71500" y="428625"/>
            <a:ext cx="8001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725"/>
              <a:buFont typeface="Roboto Mono"/>
              <a:buNone/>
            </a:pPr>
            <a:r>
              <a:rPr b="0" i="0" lang="en-US" sz="72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NON-TRIVIALITY</a:t>
            </a:r>
            <a:endParaRPr b="0" i="0" sz="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81400" y="770398"/>
            <a:ext cx="7858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Roboto Mono"/>
              <a:buNone/>
            </a:pPr>
            <a:r>
              <a:rPr b="1" lang="en-US" sz="20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WHY EXISTING APPROACHES FALL SHORT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42975" y="1573738"/>
            <a:ext cx="7639800" cy="411000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1" name="Google Shape;71;p5"/>
          <p:cNvSpPr/>
          <p:nvPr/>
        </p:nvSpPr>
        <p:spPr>
          <a:xfrm>
            <a:off x="1057052" y="1697855"/>
            <a:ext cx="218400" cy="205500"/>
          </a:xfrm>
          <a:prstGeom prst="rect">
            <a:avLst/>
          </a:prstGeom>
          <a:solidFill>
            <a:srgbClr val="33415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444" y="1755671"/>
            <a:ext cx="95499" cy="8993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423799" y="1687352"/>
            <a:ext cx="1470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Roboto Mono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Manual Reading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568081" y="1713462"/>
            <a:ext cx="4403400" cy="1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5" name="Google Shape;75;p5"/>
          <p:cNvSpPr/>
          <p:nvPr/>
        </p:nvSpPr>
        <p:spPr>
          <a:xfrm>
            <a:off x="3657756" y="1752750"/>
            <a:ext cx="7200" cy="1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568082" y="1652223"/>
            <a:ext cx="4403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11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Extremely time-consuming; inconsistent across analysts; not scalable to 10+ firms.</a:t>
            </a:r>
            <a:endParaRPr b="0" i="0" sz="11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42975" y="2018785"/>
            <a:ext cx="7639800" cy="411000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" name="Google Shape;78;p5"/>
          <p:cNvSpPr/>
          <p:nvPr/>
        </p:nvSpPr>
        <p:spPr>
          <a:xfrm>
            <a:off x="1057052" y="2131369"/>
            <a:ext cx="218400" cy="205500"/>
          </a:xfrm>
          <a:prstGeom prst="rect">
            <a:avLst/>
          </a:prstGeom>
          <a:solidFill>
            <a:srgbClr val="33415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8444" y="2189186"/>
            <a:ext cx="95499" cy="8993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1423802" y="2129933"/>
            <a:ext cx="16770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Roboto Mono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Keyword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568081" y="2158510"/>
            <a:ext cx="4403400" cy="1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" name="Google Shape;82;p5"/>
          <p:cNvSpPr/>
          <p:nvPr/>
        </p:nvSpPr>
        <p:spPr>
          <a:xfrm>
            <a:off x="3657756" y="2197797"/>
            <a:ext cx="7200" cy="1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568081" y="2096960"/>
            <a:ext cx="4403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b="0" i="0" lang="en-US" sz="113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Cannot distinguish risk type from context; misses paraphrased or implicit disclosures.</a:t>
            </a:r>
            <a:endParaRPr b="0" i="0" sz="11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42975" y="2901575"/>
            <a:ext cx="7639800" cy="457200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" name="Google Shape;85;p5"/>
          <p:cNvSpPr/>
          <p:nvPr/>
        </p:nvSpPr>
        <p:spPr>
          <a:xfrm>
            <a:off x="1057052" y="3024954"/>
            <a:ext cx="218400" cy="228600"/>
          </a:xfrm>
          <a:prstGeom prst="rect">
            <a:avLst/>
          </a:prstGeom>
          <a:solidFill>
            <a:srgbClr val="33415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444" y="3089248"/>
            <a:ext cx="9549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472203" y="2973738"/>
            <a:ext cx="2034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Roboto Mono"/>
              <a:buNone/>
            </a:pPr>
            <a:r>
              <a:rPr b="1" lang="en-US" sz="12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Query-Driven Analytical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568081" y="3056952"/>
            <a:ext cx="4403400" cy="13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9" name="Google Shape;89;p5"/>
          <p:cNvSpPr/>
          <p:nvPr/>
        </p:nvSpPr>
        <p:spPr>
          <a:xfrm>
            <a:off x="3657756" y="3096239"/>
            <a:ext cx="7200" cy="1323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568081" y="3022467"/>
            <a:ext cx="4403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lang="en-US" sz="113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Pre-indexed documents, structured outputs, and source traceability.</a:t>
            </a:r>
            <a:endParaRPr b="0" i="0" sz="11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heck mark with a white background (Provided by Tenor)" id="91" name="Google Shape;91;p5"/>
          <p:cNvPicPr preferRelativeResize="0"/>
          <p:nvPr/>
        </p:nvPicPr>
        <p:blipFill rotWithShape="1">
          <a:blip r:embed="rId7">
            <a:alphaModFix/>
          </a:blip>
          <a:srcRect b="0" l="11550" r="11550" t="0"/>
          <a:stretch/>
        </p:blipFill>
        <p:spPr>
          <a:xfrm>
            <a:off x="8311675" y="3098025"/>
            <a:ext cx="109185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842975" y="3724403"/>
            <a:ext cx="7639800" cy="457200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3" name="Google Shape;93;p5"/>
          <p:cNvSpPr/>
          <p:nvPr/>
        </p:nvSpPr>
        <p:spPr>
          <a:xfrm>
            <a:off x="1057052" y="3859315"/>
            <a:ext cx="218400" cy="228600"/>
          </a:xfrm>
          <a:prstGeom prst="rect">
            <a:avLst/>
          </a:prstGeom>
          <a:solidFill>
            <a:srgbClr val="33415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6507" y="3912076"/>
            <a:ext cx="11937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1369022" y="3860969"/>
            <a:ext cx="22413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Roboto Mono"/>
              <a:buNone/>
            </a:pPr>
            <a:r>
              <a:rPr b="1" lang="en-US" sz="12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Standalone Generative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568081" y="3879780"/>
            <a:ext cx="4403400" cy="13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" name="Google Shape;97;p5"/>
          <p:cNvSpPr/>
          <p:nvPr/>
        </p:nvSpPr>
        <p:spPr>
          <a:xfrm>
            <a:off x="3657756" y="3919068"/>
            <a:ext cx="7200" cy="1323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559950" y="3827559"/>
            <a:ext cx="4411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lang="en-US" sz="113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Struggles with long or multiple PDFs; may miss specific numeric disclosures; produces long narrative outputs.</a:t>
            </a:r>
            <a:endParaRPr b="0" i="0" sz="11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71500" y="4401075"/>
            <a:ext cx="7911300" cy="592800"/>
          </a:xfrm>
          <a:prstGeom prst="rect">
            <a:avLst/>
          </a:prstGeom>
          <a:solidFill>
            <a:srgbClr val="2DD4BF">
              <a:alpha val="5098"/>
            </a:srgbClr>
          </a:solidFill>
          <a:ln cap="flat" cmpd="sng" w="9525">
            <a:solidFill>
              <a:srgbClr val="2DD4B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4597537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985838" y="4603489"/>
            <a:ext cx="7443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5"/>
              <a:buFont typeface="DM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Conclusion: </a:t>
            </a:r>
            <a:r>
              <a:rPr b="1" lang="en-US" sz="115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 structured retrieval workflow improves focus, traceability, and cross-firm comparability.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 flipH="1">
            <a:off x="571500" y="1492713"/>
            <a:ext cx="9900" cy="1577100"/>
          </a:xfrm>
          <a:prstGeom prst="straightConnector1">
            <a:avLst/>
          </a:prstGeom>
          <a:noFill/>
          <a:ln cap="flat" cmpd="sng" w="38100">
            <a:solidFill>
              <a:srgbClr val="2DD4BF"/>
            </a:solidFill>
            <a:prstDash val="solid"/>
            <a:round/>
            <a:headEnd len="med" w="med" type="none"/>
            <a:tailEnd len="med" w="med" type="stealth"/>
          </a:ln>
          <a:effectLst>
            <a:reflection blurRad="0" dir="5400000" dist="19050" endA="0" endPos="71000" fadeDir="5400012" kx="0" rotWithShape="0" algn="bl" stPos="0" sy="-100000" ky="0"/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71500" y="428625"/>
            <a:ext cx="8001000" cy="97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71500" y="1395878"/>
            <a:ext cx="80010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71500" y="428625"/>
            <a:ext cx="8001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725"/>
              <a:buFont typeface="Roboto Mono"/>
              <a:buNone/>
            </a:pPr>
            <a:r>
              <a:rPr b="0" i="0" lang="en-US" sz="72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NON-TRIVIALITY</a:t>
            </a:r>
            <a:endParaRPr b="0" i="0" sz="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71500" y="635794"/>
            <a:ext cx="7858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596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10"/>
              <a:buFont typeface="Roboto Mono"/>
              <a:buNone/>
            </a:pPr>
            <a:r>
              <a:rPr b="1" lang="en-US" sz="201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Combining Search Discipline with LLM Flexibility</a:t>
            </a:r>
            <a:endParaRPr b="0" i="0" sz="20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49350" y="1609075"/>
            <a:ext cx="21789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95"/>
              <a:buFont typeface="Roboto Mono"/>
              <a:buNone/>
            </a:pPr>
            <a:r>
              <a:rPr b="1" lang="en-US" sz="1300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Turning heterogeneous disclosure language into consistent structured outputs.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2375" y="2740425"/>
            <a:ext cx="24708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-Transition and physical risks are described using institution-specific phrasing</a:t>
            </a:r>
            <a:endParaRPr b="1" sz="10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-SDG alignment is sometimes implicit rather than explicitly labeled</a:t>
            </a:r>
            <a:endParaRPr b="1" sz="10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-Important disclosures may appear outside expected sections</a:t>
            </a:r>
            <a:endParaRPr b="1" sz="10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39"/>
              <a:buFont typeface="DM Sans"/>
              <a:buNone/>
            </a:pPr>
            <a:r>
              <a:t/>
            </a:r>
            <a:endParaRPr b="1" sz="94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4" name="Google Shape;114;p6"/>
          <p:cNvGrpSpPr/>
          <p:nvPr/>
        </p:nvGrpSpPr>
        <p:grpSpPr>
          <a:xfrm>
            <a:off x="3304050" y="3065025"/>
            <a:ext cx="2535900" cy="1483500"/>
            <a:chOff x="3321850" y="1510175"/>
            <a:chExt cx="2535900" cy="1483500"/>
          </a:xfrm>
        </p:grpSpPr>
        <p:sp>
          <p:nvSpPr>
            <p:cNvPr id="115" name="Google Shape;115;p6"/>
            <p:cNvSpPr/>
            <p:nvPr/>
          </p:nvSpPr>
          <p:spPr>
            <a:xfrm>
              <a:off x="3321850" y="1510175"/>
              <a:ext cx="2535900" cy="1483500"/>
            </a:xfrm>
            <a:prstGeom prst="rect">
              <a:avLst/>
            </a:prstGeom>
            <a:solidFill>
              <a:srgbClr val="1E293B">
                <a:alpha val="501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16" name="Google Shape;11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00438" y="1688771"/>
              <a:ext cx="2178844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6"/>
            <p:cNvSpPr/>
            <p:nvPr/>
          </p:nvSpPr>
          <p:spPr>
            <a:xfrm>
              <a:off x="3430973" y="1945856"/>
              <a:ext cx="2381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32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985"/>
                <a:buFont typeface="DM Sans"/>
                <a:buNone/>
              </a:pPr>
              <a:r>
                <a:rPr b="1" lang="en-US" sz="11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Context-aware Risk Classification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3500450" y="2172401"/>
              <a:ext cx="21789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35"/>
                <a:buFont typeface="DM Sans"/>
                <a:buNone/>
              </a:pPr>
              <a:r>
                <a:rPr b="0" i="0" lang="en-US" sz="1035" u="none" cap="none" strike="noStrike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Identifies transition vs. physical risks (e.g., "policy shifts" vs. "flood events") regardless of the exact terminology used.</a:t>
              </a:r>
              <a:endParaRPr b="0" i="0" sz="10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6"/>
          <p:cNvSpPr/>
          <p:nvPr/>
        </p:nvSpPr>
        <p:spPr>
          <a:xfrm>
            <a:off x="6036475" y="1492275"/>
            <a:ext cx="2535900" cy="1483500"/>
          </a:xfrm>
          <a:prstGeom prst="rect">
            <a:avLst/>
          </a:prstGeom>
          <a:solidFill>
            <a:srgbClr val="1E293B">
              <a:alpha val="50199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3" y="1619576"/>
            <a:ext cx="217884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6150725" y="1880694"/>
            <a:ext cx="23076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3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5"/>
              <a:buFont typeface="DM Sans"/>
              <a:buNone/>
            </a:pPr>
            <a:r>
              <a:rPr b="1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Contextual SDG 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215069" y="2163667"/>
            <a:ext cx="21789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35"/>
              <a:buFont typeface="DM Sans"/>
              <a:buNone/>
            </a:pPr>
            <a:r>
              <a:rPr lang="en-US" sz="103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Recognizes SDG alignment from narrative context while distinguishing explicit references from inferred ones.</a:t>
            </a:r>
            <a:endParaRPr b="0" i="0" sz="1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6"/>
          <p:cNvGrpSpPr/>
          <p:nvPr/>
        </p:nvGrpSpPr>
        <p:grpSpPr>
          <a:xfrm>
            <a:off x="3301200" y="1492269"/>
            <a:ext cx="2535900" cy="1483500"/>
            <a:chOff x="3321850" y="3065019"/>
            <a:chExt cx="2535900" cy="1483500"/>
          </a:xfrm>
        </p:grpSpPr>
        <p:sp>
          <p:nvSpPr>
            <p:cNvPr id="124" name="Google Shape;124;p6"/>
            <p:cNvSpPr/>
            <p:nvPr/>
          </p:nvSpPr>
          <p:spPr>
            <a:xfrm>
              <a:off x="3321850" y="3065019"/>
              <a:ext cx="2535900" cy="1483500"/>
            </a:xfrm>
            <a:prstGeom prst="rect">
              <a:avLst/>
            </a:prstGeom>
            <a:solidFill>
              <a:srgbClr val="1E293B">
                <a:alpha val="501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25" name="Google Shape;125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00444" y="3196339"/>
              <a:ext cx="2178844" cy="181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6"/>
            <p:cNvSpPr/>
            <p:nvPr/>
          </p:nvSpPr>
          <p:spPr>
            <a:xfrm>
              <a:off x="3500450" y="3446822"/>
              <a:ext cx="21789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985"/>
                <a:buFont typeface="DM Sans"/>
                <a:buNone/>
              </a:pPr>
              <a:r>
                <a:rPr b="1" lang="en-US" sz="12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Retrieval Before Generation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500450" y="3659850"/>
              <a:ext cx="21789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The system indexes the full disclosure corpus in advance and retrieves relevant passages before generating responses.</a:t>
              </a:r>
              <a:endParaRPr sz="9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This reduces missed numeric disclosures and cross-bank confusion.</a:t>
              </a:r>
              <a:endParaRPr sz="9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>
            <a:off x="6036475" y="3065019"/>
            <a:ext cx="2535900" cy="1483500"/>
          </a:xfrm>
          <a:prstGeom prst="rect">
            <a:avLst/>
          </a:prstGeom>
          <a:solidFill>
            <a:srgbClr val="1E293B">
              <a:alpha val="50199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9" y="3230809"/>
            <a:ext cx="2178844" cy="18167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6214969" y="3531677"/>
            <a:ext cx="21789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3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85"/>
              <a:buFont typeface="DM Sans"/>
              <a:buNone/>
            </a:pPr>
            <a:r>
              <a:rPr b="1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Structured Concise Outputs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215069" y="3784132"/>
            <a:ext cx="21789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Returns short, comparable findings:</a:t>
            </a:r>
            <a:endParaRPr sz="1035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Risk type • Key metrics • SDG linkage • Source document</a:t>
            </a:r>
            <a:endParaRPr sz="1035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71500" y="4746296"/>
            <a:ext cx="8001000" cy="38400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85813" y="4863275"/>
            <a:ext cx="1320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5"/>
              <a:buFont typeface="Roboto Mono"/>
              <a:buNone/>
            </a:pPr>
            <a:r>
              <a:rPr b="0" i="0" lang="en-US" sz="725" u="none" cap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BEYOND A BASIC WRAPPER</a:t>
            </a:r>
            <a:endParaRPr b="0" i="0" sz="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228766" y="4853453"/>
            <a:ext cx="15087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Document Preprocessing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844705" y="4853453"/>
            <a:ext cx="687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020452" y="4853453"/>
            <a:ext cx="1097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Vector Retrieval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224900" y="4853453"/>
            <a:ext cx="687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00647" y="4853453"/>
            <a:ext cx="1234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Metadata Filtering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742249" y="4853453"/>
            <a:ext cx="687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17996" y="4853453"/>
            <a:ext cx="1440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36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35"/>
              <a:buFont typeface="Roboto Mono"/>
              <a:buNone/>
            </a:pPr>
            <a:r>
              <a:rPr b="0" i="0" lang="en-US" sz="83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Constrained Reasoning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571500" y="428625"/>
            <a:ext cx="8001000" cy="97439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71500" y="1395878"/>
            <a:ext cx="8001000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71500" y="428625"/>
            <a:ext cx="80010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725"/>
              <a:buFont typeface="Roboto Mono"/>
              <a:buNone/>
            </a:pPr>
            <a:r>
              <a:rPr b="0" i="0" lang="en-US" sz="725" u="none" cap="none" strike="noStrike">
                <a:solidFill>
                  <a:srgbClr val="2DD4BF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OVERVIEW</a:t>
            </a:r>
            <a:endParaRPr b="0" i="0" sz="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71500" y="635794"/>
            <a:ext cx="7858125" cy="617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596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10"/>
              <a:buFont typeface="Roboto Mono"/>
              <a:buNone/>
            </a:pPr>
            <a:r>
              <a:rPr b="1" lang="en-US" sz="181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Application </a:t>
            </a:r>
            <a:r>
              <a:rPr b="1" lang="en-US" sz="181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Diagram: RAG Pipeline</a:t>
            </a:r>
            <a:endParaRPr b="1" sz="1810">
              <a:solidFill>
                <a:srgbClr val="F8FA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2596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10"/>
              <a:buFont typeface="Roboto Mono"/>
              <a:buNone/>
            </a:pPr>
            <a:r>
              <a:t/>
            </a:r>
            <a:endParaRPr b="1" sz="1810">
              <a:solidFill>
                <a:srgbClr val="F8FAF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24440"/>
            <a:ext cx="9143998" cy="364009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1065200" y="4253225"/>
            <a:ext cx="52185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Our data starts as raw G-SIB Disclosure PDF reports.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We use PyPDF2 to extract text and a sliding-window splitter to create 400-word’ chunks.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Each chunk is converted into a numerical vector using OpenAI’s text-embedding-3-small model.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These vectors are stored in Chroma DB, a local vector database. 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